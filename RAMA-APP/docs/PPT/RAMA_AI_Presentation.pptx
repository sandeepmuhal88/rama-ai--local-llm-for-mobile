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EF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8EEF4"/>
                </a:solidFill>
                <a:latin typeface="Arial"/>
              </a:rPr>
              <a:t>Token Speed by Device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/ second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39-4A70-8D08-C213897D28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A39-4A70-8D08-C213897D2876}"/>
              </c:ext>
            </c:extLst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39-4A70-8D08-C213897D2876}"/>
              </c:ext>
            </c:extLst>
          </c:dPt>
          <c:dPt>
            <c:idx val="3"/>
            <c:invertIfNegative val="0"/>
            <c:bubble3D val="0"/>
            <c:spPr>
              <a:solidFill>
                <a:srgbClr val="FF70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39-4A70-8D08-C213897D28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Entry-level</c:v>
                </c:pt>
                <c:pt idx="1">
                  <c:v>Mid-range</c:v>
                </c:pt>
                <c:pt idx="2">
                  <c:v>Upper Mid</c:v>
                </c:pt>
                <c:pt idx="3">
                  <c:v>Flagship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8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39-4A70-8D08-C213897D28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714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BFA6-A9BB-FB80-354C-D030A9BE1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E11A7-748C-EB5B-FB2F-F1A6B303C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D3E3-F813-35FE-766A-E4D543A1C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0D773-D93B-FD0D-C60F-7168C906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23ACE-0B68-E97F-5457-3230D063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16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4228-829B-9982-6033-4637EBAB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259A-E808-E976-7585-99675804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E9B7-135B-9BB1-2BEA-E14ECD60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A7C77-6354-089A-EF66-A7B6DA8F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39A2-05E9-6C50-2EC8-9A24184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01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2344-A9F2-6497-D48D-523E60EE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47FC6-5A3F-369E-9680-59193E197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E768C-FA24-60AA-F373-189EA6BB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4956-7A74-CB5C-D5DA-6CD03676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014E5-1134-81BE-BFF3-279722C5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77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813D-37AA-9040-B1EF-16D9B0B2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D915-DE9E-5529-1114-EA687EEA0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D81E4-EA88-4CBC-50B5-60841730A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B8C1F-FA2D-1471-F71A-487BD3D6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38634-9987-964A-3A0D-F485325E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5FDE3-DF9E-8D62-A0A3-4498C676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7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DA1D-D510-E12C-E5F9-E5A89192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39C1B-E7A9-85B0-E4F9-947E240F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88A3-125B-AD80-C068-7EE39FF5B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C9149-005E-E97A-9E62-8E8B47496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70FE5-15A6-7086-C30B-842EDBB49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942BA-B223-D9B1-0ECB-DFA5CAE9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C5C68-B2CD-48BD-F9B6-5FA87A62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CB14F-4FB1-B1E9-9E4F-433A3D12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28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521F-2CF9-6DFC-2A3D-1E4C44C5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AB4AC-8916-636B-E335-83E549D8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B0187-CA8F-FF09-726A-41A375CF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76236-696A-0461-51AF-BDC14AFB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684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E7B9D-1A74-25DD-6988-7B2BB7BE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0784E-9D6F-CDFE-49EC-AABFBF56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F1FF5-DB74-4074-7419-09CABC2B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51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3B9E-73DB-BFAE-3B31-91CDCD5A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22B64-2517-0B9F-4F49-E52F9EF3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1032A-A025-835C-28DF-B025FCDB1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DEE07-EEEB-F828-DED1-60E513B9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89E0-1CAF-FF62-8C3E-B09299B7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E82C-FC6A-661B-7420-F24F316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628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CCDE-854A-26C4-BD14-0F165E70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A8734-17FD-316A-5F2A-A158BE269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0D71D-7034-36AE-5C40-DADB68DC5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1F347-4273-2187-7695-7213E951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B9D86-3C3D-09DF-F394-B285FD1F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D052A-50A3-8A14-A7E9-A1C6AD20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980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EEC9-3123-789A-8F83-5F119CF0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AC064-880E-53EE-D61F-CD611CBAF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40E3B-AB77-7AA3-B2DA-895FFBB2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8B8E4-C702-C70A-B35E-E5FA550C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583D-43E6-8EDD-BA8E-1888794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503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E1662-D8BB-0342-14EE-143E55A2C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4B3CE-AB14-0373-BE18-85A482643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D2DAC-784C-89E2-6287-A30F68BA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8B39-9350-02B0-7F72-8A1FEF1F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15472-8127-0593-A931-6C2ABCA3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770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59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0C9DE-1346-E7FA-9FF2-76C3373B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B497-8F3C-6830-50B0-19198900B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628BF-B567-712E-6BAD-FCCC5BCD6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073A3-830D-4181-ADAE-699513DDD57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14000-A5D2-BB58-F061-0D0CEC2AF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6631-5F0A-3711-D23C-43003AC13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CD634-919A-4D1D-AA93-3F865CFF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48640"/>
            <a:ext cx="13716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LLM Inference on Android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Flutter · llama.cpp · Dart FFI · GGUF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502920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54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Muhal  (22EBUCS045)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Jai Bhaskar, Asst. Professor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739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CS&amp;E  |  Bikaner Technical University  |  </a:t>
            </a: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5720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00584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AI falls short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65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51560" y="205740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984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RAMA AI?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17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51560" y="310896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035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2336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69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51560" y="416052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087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80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design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86868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86868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914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532120" y="100584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FFI · Isolates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92024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92024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965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532120" y="205740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984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2356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metrics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971800"/>
            <a:ext cx="4114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971800"/>
            <a:ext cx="457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017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5532120" y="3108960"/>
            <a:ext cx="27432" cy="6400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3035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2356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research gaps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AI Assistants Fall Short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15087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= No AI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assistants fail in rural areas, aircraft,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facilities, or wherever connectivity is unreliable.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0233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45720" cy="15087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361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prompts travel to remote servers — conversations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logged, analyzed, or exposed in data breaches.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08960"/>
            <a:ext cx="45720" cy="15087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7355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API Costs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fees and per-token charges make continuous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expensive for students and small organisations.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108960"/>
            <a:ext cx="45720" cy="15087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7355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On-Device Stack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 open-source reference shows how to run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offline LLM chatbot on Android end-to-end.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Android AI Assistant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606040" cy="30175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45720" cy="3017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20240"/>
            <a:ext cx="1005840" cy="10058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9476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ever leaves the device. No telemetry, no cloud calls, no server logs.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783080"/>
            <a:ext cx="2606040" cy="301752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783080"/>
            <a:ext cx="45720" cy="30175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920240"/>
            <a:ext cx="1005840" cy="1005840"/>
          </a:xfrm>
          <a:prstGeom prst="ellipse">
            <a:avLst/>
          </a:prstGeom>
          <a:solidFill>
            <a:srgbClr val="FF7043">
              <a:alpha val="20000"/>
            </a:srgbClr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46120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79476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4-bit models + multi-threaded CPU inference = 8–20 tok/s on mid-range phones.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783080"/>
            <a:ext cx="2606040" cy="30175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783080"/>
            <a:ext cx="45720" cy="3017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920240"/>
            <a:ext cx="1005840" cy="1005840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80760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by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79476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chat interface feels as smooth as any cloud assistant — 60 fps, streaming-ready.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243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&amp; SLMs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60934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introduced self-attention. Compact SLMs (Phi-3, TinyLlama, Gemma) achieve high quality at 1–4B parameters, fitting smartphone RAM.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243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&amp; Quantization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76672" y="160934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K-Quant formats (Q4_K_M) reduce FP16 models from 8 GB to ~2 GB with minimal quality loss. GGUF is self-describing — no external config files needed.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46888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46888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523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Inference Engines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41832" y="288950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chosen over TFLite, MLC-LLM, ExecuTorch: C++17, zero deps, ARM NEON SIMD, stable Android NDK support, active GGUF ecosystem.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246888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46888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788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2523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Dart FFI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76672" y="288950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FFI provides direct C→Dart function calls — 3× lower latency than Platform Channels (Sharma &amp; Patel, 2023). Critical for large text payloads.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74904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0690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1832" y="3803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41832" y="41696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2024: models use a U-shaped attention pattern — recent &amp; first tokens matter most. Sliding-window of last 12 msgs is optimal strategy.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754880" y="3749040"/>
            <a:ext cx="416052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74904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690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3803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76672" y="41696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Cavoukian 2009: privacy must be embedded, not bolted on. GDPR Art. 25 mandates data-minimisation. Local-only inference satisfies both architecturally.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System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298448"/>
            <a:ext cx="27432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25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36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Screen · Model Manager · Settings · History Sidebar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847088"/>
            <a:ext cx="54864" cy="100584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47672"/>
            <a:ext cx="54864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476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057400"/>
            <a:ext cx="27432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2951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+ ChangeNotifier · Reactive UI · Theme &amp; Model State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54864" cy="100584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06624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06624"/>
            <a:ext cx="54864" cy="65836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06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2816352"/>
            <a:ext cx="27432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0540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ChatService · ModelService · DownloadService · ThemeService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3364992"/>
            <a:ext cx="54864" cy="100584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65576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65576"/>
            <a:ext cx="54864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65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5840" y="3575304"/>
            <a:ext cx="27432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502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Inference (C++)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813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FFI → C++ Bridge → llama.cpp · NEON SIMD · Model Cache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4123944"/>
            <a:ext cx="54864" cy="100584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24528"/>
            <a:ext cx="54864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245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" y="4334256"/>
            <a:ext cx="27432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261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4572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(chats) · Device Filesystem (GGUF files) · SharedPrefs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572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52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Model Cache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once into native heap (g_model). All subsequent calls reuse the cached pointer — eliminates 2–18s reload per message.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468880"/>
            <a:ext cx="411480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468880"/>
            <a:ext cx="45720" cy="117043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5328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FFI Bridge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6012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C→Dart function binding via DynamicLibrary. Bypasses Platform Channels — 3× lower latency for large text payloads.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749040"/>
            <a:ext cx="4114800" cy="1170432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749040"/>
            <a:ext cx="45720" cy="1170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8130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Dart Isolate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60120" y="4206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long-lived isolate handles all inference. Main UI isolate stays unblocked → 60 fps during generation. No ANR risk.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1188720"/>
            <a:ext cx="416052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1188720"/>
            <a:ext cx="45720" cy="18288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 Chain (5 Stages)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75488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Temperature  0.70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5488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Top-K  40 tokens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54880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Top-P (Nucleus)  0.90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75488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Repetition Penalty  1.1×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Greedy Argmax Pick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200400"/>
            <a:ext cx="416052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63440" y="3200400"/>
            <a:ext cx="45720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0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Context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754880" y="3639312"/>
            <a:ext cx="3931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12 messages</a:t>
            </a: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fetched per inference call.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prompt: System Instruction + Global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Window + Current Input.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reply (regex) for 'hi', 'hello' →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ms</a:t>
            </a: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LLM invoked.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202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572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tokens/sec (Phi-3)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170432"/>
            <a:ext cx="19202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170432"/>
            <a:ext cx="45720" cy="1188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61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&lt;0.5s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inference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170432"/>
            <a:ext cx="19202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170432"/>
            <a:ext cx="45720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261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GB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6280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with Phi-3 loaded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170432"/>
            <a:ext cx="19202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6C6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170432"/>
            <a:ext cx="45720" cy="1188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261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83680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during inference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51460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514600"/>
          <a:ext cx="411480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(778G)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 1.1B 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18–25 tok/s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Entry-level, fastest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Phi-2 2.7B 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tok/s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Reasoning, compact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Phi-3 Mini 4K 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 tok/s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quality overall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2B 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tok/s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Balanced, 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1B 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15–22 tok/s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Meta, fast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RAMA AI Delivers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5720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on-device.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calls during chat.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45720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data ever transmitted.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telemetry, no server logs.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1887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188720"/>
            <a:ext cx="45720" cy="16459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936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8–20 tok/s depending on model.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calls under 0.5 seconds.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0175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017520"/>
            <a:ext cx="45720" cy="16459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461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Models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GGUF model loadable at runtime.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HuggingFace or import.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30175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017520"/>
            <a:ext cx="45720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4612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8328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multi-conversation memory.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Today / Last 7 Days / Older.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72200" y="3017520"/>
            <a:ext cx="27432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3017520"/>
            <a:ext cx="45720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4612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3093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themes, 8 accent colors.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60 fps, Claude-inspired design.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36576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01168" cy="20116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17190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widely adopted Dart FFI streaming token implementation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201168" cy="20116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22860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persistent model serving across Android app lifecycle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201168" cy="20116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28529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context via FlashAttention / PagedAttention on mobile CPU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201168" cy="20116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34198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parity: Framework bundle + Metal Performance Shaders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201168" cy="20116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" y="39867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on-device LLM benchmark suite under 4-bit constraints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16052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43000"/>
            <a:ext cx="45720" cy="3657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07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737360"/>
            <a:ext cx="502920" cy="25603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924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 output (NativePort FFI)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76272"/>
            <a:ext cx="502920" cy="25603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76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49240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toggle via Vulkan (capable devices)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615184"/>
            <a:ext cx="502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15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4924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via Whisper.cpp integration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502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4924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deployment (.dylib / Framework port)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493008"/>
            <a:ext cx="502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493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4924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 in chat bubbles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931920"/>
            <a:ext cx="502920" cy="256032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319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4924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local knowledge base integration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370832"/>
            <a:ext cx="502920" cy="256032"/>
          </a:xfrm>
          <a:prstGeom prst="rect">
            <a:avLst/>
          </a:prstGeom>
          <a:solidFill>
            <a:srgbClr val="8FA8BE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370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4924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 support via llama.cpp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920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AI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2860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Offline. Private. Fast.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Muhal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22EBUCS045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BTU, Bikaner  |  April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27432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9120" y="594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Proved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704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28032" y="1115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model cache eliminates 2–18s reload overhead after first load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836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28032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FFI → C++ bridge bypasses Platform Channel serialisation latency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9689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28032" y="25420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isolate architecture maintains 60 fps UI during inference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31012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28032" y="32552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Privacy-by-architecture: zero data transmitted during conversational use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023360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28032" y="3968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8–20 tok/s on mid-range Android proves consumer offline AI is practical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389120" y="4663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1101</Words>
  <Application>Microsoft Office PowerPoint</Application>
  <PresentationFormat>On-screen Show (16:9)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RAMA AI – Project Presentation</dc:title>
  <dc:subject>PptxGenJS Presentation</dc:subject>
  <dc:creator>Sandeep Muhal</dc:creator>
  <cp:lastModifiedBy>Sandeep Muhal</cp:lastModifiedBy>
  <cp:revision>2</cp:revision>
  <dcterms:created xsi:type="dcterms:W3CDTF">2026-04-20T04:04:37Z</dcterms:created>
  <dcterms:modified xsi:type="dcterms:W3CDTF">2026-04-20T08:03:15Z</dcterms:modified>
</cp:coreProperties>
</file>